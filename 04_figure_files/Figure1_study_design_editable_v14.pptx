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fafcad05c347d1" /><Relationship Type="http://schemas.openxmlformats.org/officeDocument/2006/relationships/extended-properties" Target="/docProps/app.xml" Id="Rb48160ce9c184f3b" /><Relationship Type="http://schemas.openxmlformats.org/officeDocument/2006/relationships/officeDocument" Target="/ppt/presentation.xml" Id="Rd56ca7d6b3ae45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9ad5f1d4804503"/>
  </p:sldMasterIdLst>
  <p:notesMasterIdLst>
    <p:notesMasterId xmlns:r="http://schemas.openxmlformats.org/officeDocument/2006/relationships" r:id="R1d6598cc5dfd406b"/>
  </p:notesMasterIdLst>
  <p:sldIdLst>
    <p:sldId xmlns:r="http://schemas.openxmlformats.org/officeDocument/2006/relationships" id="256" r:id="Rcda3d80ed5104e19"/>
  </p:sldIdLst>
  <p:sldSz cx="6591300" cy="4248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69e5b22a404a06" /><Relationship Type="http://schemas.openxmlformats.org/officeDocument/2006/relationships/slideMaster" Target="/ppt/slideMasters/slideMaster1.xml" Id="R8a9ad5f1d4804503" /><Relationship Type="http://schemas.openxmlformats.org/officeDocument/2006/relationships/notesMaster" Target="/ppt/notesMasters/notesMaster1.xml" Id="R1d6598cc5dfd406b" /><Relationship Type="http://schemas.openxmlformats.org/officeDocument/2006/relationships/presProps" Target="/ppt/presProps.xml" Id="R2a6528763a814b8a" /><Relationship Type="http://schemas.openxmlformats.org/officeDocument/2006/relationships/tableStyles" Target="/ppt/tableStyles.xml" Id="R95aea5f8eec34a36" /><Relationship Type="http://schemas.openxmlformats.org/officeDocument/2006/relationships/slide" Target="/ppt/slides/slide1.xml" Id="Rcda3d80ed5104e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47808faa24f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NMI restrained pastel">
      <a:dk1>
        <a:srgbClr val="000000"/>
      </a:dk1>
      <a:lt1>
        <a:srgbClr val="FFFFFF"/>
      </a:lt1>
      <a:dk2>
        <a:srgbClr val="222329"/>
      </a:dk2>
      <a:lt2>
        <a:srgbClr val="F4F4F6"/>
      </a:lt2>
      <a:accent1>
        <a:srgbClr val="484878"/>
      </a:accent1>
      <a:accent2>
        <a:srgbClr val="7884B4"/>
      </a:accent2>
      <a:accent3>
        <a:srgbClr val="B4C0E4"/>
      </a:accent3>
      <a:accent4>
        <a:srgbClr val="E4CCD8"/>
      </a:accent4>
      <a:accent5>
        <a:srgbClr val="A8A8A8"/>
      </a:accent5>
      <a:accent6>
        <a:srgbClr val="D8D8D8"/>
      </a:accent6>
      <a:hlink>
        <a:srgbClr val="484878"/>
      </a:hlink>
      <a:folHlink>
        <a:srgbClr val="7884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MI restrained paste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f4ecc366734281" /><Relationship Type="http://schemas.openxmlformats.org/officeDocument/2006/relationships/notesMaster" Target="/ppt/notesMasters/notesMaster1.xml" Id="Ra5adc14757b3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Study-design schematic revised from the author-supplied editable original. Source: v13 Methods 2.6–2.10 and archived 122-round condition summary. Twenty shots was the prespecified primary LLM condition; the logistic-regression reference was prespecified and ExtraTrees pairing was a secondary integration. All 166 unlabelled query cases were presented in each call. OpenAI Codex assisted with label editing and consistency checks on 8 September 2026; the exact assistant model version was not exposed. No research data were generated or altered.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f5ab40d914e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fb9f2ebc434f56" /><Relationship Type="http://schemas.openxmlformats.org/officeDocument/2006/relationships/slideLayout" Target="/ppt/slideLayouts/slideLayout1.xml" Id="Rd8ad1e200c7e40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ad1e200c7e40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NMI restrained pastel">
      <a:dk1>
        <a:srgbClr val="000000"/>
      </a:dk1>
      <a:lt1>
        <a:srgbClr val="FFFFFF"/>
      </a:lt1>
      <a:dk2>
        <a:srgbClr val="222329"/>
      </a:dk2>
      <a:lt2>
        <a:srgbClr val="F4F4F6"/>
      </a:lt2>
      <a:accent1>
        <a:srgbClr val="484878"/>
      </a:accent1>
      <a:accent2>
        <a:srgbClr val="7884B4"/>
      </a:accent2>
      <a:accent3>
        <a:srgbClr val="B4C0E4"/>
      </a:accent3>
      <a:accent4>
        <a:srgbClr val="E4CCD8"/>
      </a:accent4>
      <a:accent5>
        <a:srgbClr val="A8A8A8"/>
      </a:accent5>
      <a:accent6>
        <a:srgbClr val="D8D8D8"/>
      </a:accent6>
      <a:hlink>
        <a:srgbClr val="484878"/>
      </a:hlink>
      <a:folHlink>
        <a:srgbClr val="7884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MI restrained paste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dd1d78d2a463a" /><Relationship Type="http://schemas.openxmlformats.org/officeDocument/2006/relationships/notesSlide" Target="/ppt/notesSlides/notesSlide1.xml" Id="R11623885f82e43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2051B328-44AB-4EB9-B593-E19A00C8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90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1290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Study design and evaluation framework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DE3EB426-7F3A-463D-866F-7134BC92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660" b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606060"/>
                </a:solidFill>
                <a:latin typeface="Arial"/>
                <a:ea typeface="Arial"/>
                <a:cs typeface="Arial"/>
              </a:rPr>
              <a:t>Prediction of major pathological response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BA84BC-0CB9-4006-9502-344B124B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95300"/>
            <a:ext cx="613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4878"/>
            </a:solidFill>
            <a:prstDash val="solid"/>
          </a:ln>
        </p:spPr>
      </p:sp>
      <p:sp>
        <p:nvSpPr>
          <p:cNvPr id="4" name="panel-a">
            <a:extLst xmlns:a="http://schemas.openxmlformats.org/drawingml/2006/main">
              <a:ext uri="{FF2B5EF4-FFF2-40B4-BE49-F238E27FC236}">
                <a16:creationId xmlns:a16="http://schemas.microsoft.com/office/drawing/2014/main" id="{A41956A6-E78D-4F6A-B718-5509CEE6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04850"/>
            <a:ext cx="14097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" name="panel-label-a">
            <a:extLst xmlns:a="http://schemas.openxmlformats.org/drawingml/2006/main">
              <a:ext uri="{FF2B5EF4-FFF2-40B4-BE49-F238E27FC236}">
                <a16:creationId xmlns:a16="http://schemas.microsoft.com/office/drawing/2014/main" id="{62E8B4B9-2B6A-49AE-9710-6376C24C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52475"/>
            <a:ext cx="123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840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panel-title-a">
            <a:extLst xmlns:a="http://schemas.openxmlformats.org/drawingml/2006/main">
              <a:ext uri="{FF2B5EF4-FFF2-40B4-BE49-F238E27FC236}">
                <a16:creationId xmlns:a16="http://schemas.microsoft.com/office/drawing/2014/main" id="{1853830E-46C6-4871-B9C3-E6AF3A6B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05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Cohort and study flow</a:t>
            </a:r>
          </a:p>
        </p:txBody>
      </p:sp>
      <p:sp>
        <p:nvSpPr>
          <p:cNvPr id="7" name="panel-b">
            <a:extLst xmlns:a="http://schemas.openxmlformats.org/drawingml/2006/main">
              <a:ext uri="{FF2B5EF4-FFF2-40B4-BE49-F238E27FC236}">
                <a16:creationId xmlns:a16="http://schemas.microsoft.com/office/drawing/2014/main" id="{4F9ADC62-BFB5-4C55-8161-CF9EB75B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04850"/>
            <a:ext cx="2190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8" name="panel-label-b">
            <a:extLst xmlns:a="http://schemas.openxmlformats.org/drawingml/2006/main">
              <a:ext uri="{FF2B5EF4-FFF2-40B4-BE49-F238E27FC236}">
                <a16:creationId xmlns:a16="http://schemas.microsoft.com/office/drawing/2014/main" id="{F9305202-E019-4173-9976-1576F2C8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752475"/>
            <a:ext cx="123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840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" name="panel-title-b">
            <a:extLst xmlns:a="http://schemas.openxmlformats.org/drawingml/2006/main">
              <a:ext uri="{FF2B5EF4-FFF2-40B4-BE49-F238E27FC236}">
                <a16:creationId xmlns:a16="http://schemas.microsoft.com/office/drawing/2014/main" id="{0C0B1615-DCD5-4B5A-B501-72168182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52475"/>
            <a:ext cx="1495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05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Conventional modelling</a:t>
            </a:r>
          </a:p>
        </p:txBody>
      </p:sp>
      <p:sp>
        <p:nvSpPr>
          <p:cNvPr id="10" name="panel-tag-b">
            <a:extLst xmlns:a="http://schemas.openxmlformats.org/drawingml/2006/main">
              <a:ext uri="{FF2B5EF4-FFF2-40B4-BE49-F238E27FC236}">
                <a16:creationId xmlns:a16="http://schemas.microsoft.com/office/drawing/2014/main" id="{6C59FB72-5288-4911-936A-4C4D149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62000"/>
            <a:ext cx="381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540" b="1">
                <a:solidFill>
                  <a:srgbClr val="7884B4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7884B4"/>
                </a:solidFill>
                <a:latin typeface="Arial"/>
                <a:ea typeface="Arial"/>
                <a:cs typeface="Arial"/>
              </a:rPr>
              <a:t>NCC only</a:t>
            </a:r>
          </a:p>
        </p:txBody>
      </p:sp>
      <p:sp>
        <p:nvSpPr>
          <p:cNvPr id="11" name="panel-c">
            <a:extLst xmlns:a="http://schemas.openxmlformats.org/drawingml/2006/main">
              <a:ext uri="{FF2B5EF4-FFF2-40B4-BE49-F238E27FC236}">
                <a16:creationId xmlns:a16="http://schemas.microsoft.com/office/drawing/2014/main" id="{8E4181AC-C18B-4D50-903D-0F269AB7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04850"/>
            <a:ext cx="2190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2" name="panel-label-c">
            <a:extLst xmlns:a="http://schemas.openxmlformats.org/drawingml/2006/main">
              <a:ext uri="{FF2B5EF4-FFF2-40B4-BE49-F238E27FC236}">
                <a16:creationId xmlns:a16="http://schemas.microsoft.com/office/drawing/2014/main" id="{34D54075-5583-4729-A274-F6E8E75B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52475"/>
            <a:ext cx="123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840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panel-title-c">
            <a:extLst xmlns:a="http://schemas.openxmlformats.org/drawingml/2006/main">
              <a:ext uri="{FF2B5EF4-FFF2-40B4-BE49-F238E27FC236}">
                <a16:creationId xmlns:a16="http://schemas.microsoft.com/office/drawing/2014/main" id="{28CE059B-388D-460A-9162-8C8396DA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75247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05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Repeated LLM prediction</a:t>
            </a:r>
          </a:p>
        </p:txBody>
      </p:sp>
      <p:sp>
        <p:nvSpPr>
          <p:cNvPr id="14" name="panel-tag-c">
            <a:extLst xmlns:a="http://schemas.openxmlformats.org/drawingml/2006/main">
              <a:ext uri="{FF2B5EF4-FFF2-40B4-BE49-F238E27FC236}">
                <a16:creationId xmlns:a16="http://schemas.microsoft.com/office/drawing/2014/main" id="{C259584A-0D88-4F90-8E56-317DBCA0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762000"/>
            <a:ext cx="609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510" b="1">
                <a:solidFill>
                  <a:srgbClr val="7884B4"/>
                </a:solidFill>
                <a:latin typeface="Arial"/>
                <a:ea typeface="Arial"/>
                <a:cs typeface="Arial"/>
              </a:defRPr>
            </a:pPr>
            <a:r>
              <a:rPr sz="510" b="1">
                <a:solidFill>
                  <a:srgbClr val="7884B4"/>
                </a:solidFill>
                <a:latin typeface="Arial"/>
                <a:ea typeface="Arial"/>
                <a:cs typeface="Arial"/>
              </a:rPr>
              <a:t>20-shot primary</a:t>
            </a:r>
          </a:p>
        </p:txBody>
      </p:sp>
      <p:sp>
        <p:nvSpPr>
          <p:cNvPr id="15" name="panel-d">
            <a:extLst xmlns:a="http://schemas.openxmlformats.org/drawingml/2006/main">
              <a:ext uri="{FF2B5EF4-FFF2-40B4-BE49-F238E27FC236}">
                <a16:creationId xmlns:a16="http://schemas.microsoft.com/office/drawing/2014/main" id="{054EBA1C-3C76-41E5-AECD-ACA7F5A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71800"/>
            <a:ext cx="6134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6" name="panel-label-d">
            <a:extLst xmlns:a="http://schemas.openxmlformats.org/drawingml/2006/main">
              <a:ext uri="{FF2B5EF4-FFF2-40B4-BE49-F238E27FC236}">
                <a16:creationId xmlns:a16="http://schemas.microsoft.com/office/drawing/2014/main" id="{6864309D-7A3A-4E77-8C23-DDB0E57E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19425"/>
            <a:ext cx="123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840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7" name="panel-title-d">
            <a:extLst xmlns:a="http://schemas.openxmlformats.org/drawingml/2006/main">
              <a:ext uri="{FF2B5EF4-FFF2-40B4-BE49-F238E27FC236}">
                <a16:creationId xmlns:a16="http://schemas.microsoft.com/office/drawing/2014/main" id="{1800489B-23D9-4C2A-8966-3BC585FE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19425"/>
            <a:ext cx="1762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05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Paired external evaluation</a:t>
            </a:r>
          </a:p>
        </p:txBody>
      </p:sp>
      <p:sp>
        <p:nvSpPr>
          <p:cNvPr id="18" name="cohort-source-box">
            <a:extLst xmlns:a="http://schemas.openxmlformats.org/drawingml/2006/main">
              <a:ext uri="{FF2B5EF4-FFF2-40B4-BE49-F238E27FC236}">
                <a16:creationId xmlns:a16="http://schemas.microsoft.com/office/drawing/2014/main" id="{04BF8467-99AF-4698-98ED-AE2FAB2C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5727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7620">
            <a:solidFill>
              <a:srgbClr val="A8A8A8"/>
            </a:solidFill>
            <a:prstDash val="solid"/>
          </a:ln>
        </p:spPr>
      </p:sp>
      <p:sp>
        <p:nvSpPr>
          <p:cNvPr id="19" name="cohort-source-text">
            <a:extLst xmlns:a="http://schemas.openxmlformats.org/drawingml/2006/main">
              <a:ext uri="{FF2B5EF4-FFF2-40B4-BE49-F238E27FC236}">
                <a16:creationId xmlns:a16="http://schemas.microsoft.com/office/drawing/2014/main" id="{88853456-690F-47FA-8EE7-200C7F17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763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62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62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Two-centre cohort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2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62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n = 166</a:t>
            </a:r>
          </a:p>
        </p:txBody>
      </p:sp>
      <p:sp>
        <p:nvSpPr>
          <p:cNvPr id="20" name="development-center-box">
            <a:extLst xmlns:a="http://schemas.openxmlformats.org/drawingml/2006/main">
              <a:ext uri="{FF2B5EF4-FFF2-40B4-BE49-F238E27FC236}">
                <a16:creationId xmlns:a16="http://schemas.microsoft.com/office/drawing/2014/main" id="{B0B5273F-5BCD-494D-9AFE-7B6A61BE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76400"/>
            <a:ext cx="590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8"/>
          </a:solidFill>
          <a:ln xmlns:a="http://schemas.openxmlformats.org/drawingml/2006/main" w="7620">
            <a:solidFill>
              <a:srgbClr val="7884B4"/>
            </a:solidFill>
            <a:prstDash val="solid"/>
          </a:ln>
        </p:spPr>
      </p:sp>
      <p:sp>
        <p:nvSpPr>
          <p:cNvPr id="21" name="development-center-text">
            <a:extLst xmlns:a="http://schemas.openxmlformats.org/drawingml/2006/main">
              <a:ext uri="{FF2B5EF4-FFF2-40B4-BE49-F238E27FC236}">
                <a16:creationId xmlns:a16="http://schemas.microsoft.com/office/drawing/2014/main" id="{2B14D852-38B5-4174-9E90-E85B731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95450"/>
            <a:ext cx="533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3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Development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53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NCC, n = 109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53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Model fitting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53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Demonstration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53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pool</a:t>
            </a:r>
          </a:p>
        </p:txBody>
      </p:sp>
      <p:sp>
        <p:nvSpPr>
          <p:cNvPr id="22" name="external-center-box">
            <a:extLst xmlns:a="http://schemas.openxmlformats.org/drawingml/2006/main">
              <a:ext uri="{FF2B5EF4-FFF2-40B4-BE49-F238E27FC236}">
                <a16:creationId xmlns:a16="http://schemas.microsoft.com/office/drawing/2014/main" id="{EF37961D-16A2-48E7-81E1-F5E25E82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590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CCD8"/>
          </a:solidFill>
          <a:ln xmlns:a="http://schemas.openxmlformats.org/drawingml/2006/main" w="7620">
            <a:solidFill>
              <a:srgbClr val="484878"/>
            </a:solidFill>
            <a:prstDash val="solid"/>
          </a:ln>
        </p:spPr>
      </p:sp>
      <p:sp>
        <p:nvSpPr>
          <p:cNvPr id="23" name="external-center-text">
            <a:extLst xmlns:a="http://schemas.openxmlformats.org/drawingml/2006/main">
              <a:ext uri="{FF2B5EF4-FFF2-40B4-BE49-F238E27FC236}">
                <a16:creationId xmlns:a16="http://schemas.microsoft.com/office/drawing/2014/main" id="{DE7E111D-B4F6-4A18-BD77-19AFB591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533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3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External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53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FAHZU, n = 57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53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Outcomes held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53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until prediction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53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cxnSp>
        <p:nvCxnSpPr>
          <p:cNvPr id="317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619125" y="1343025"/>
            <a:ext cx="31432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7884B4"/>
            </a:solidFill>
            <a:prstDash val="solid"/>
            <a:tailEnd type="arrow" w="sm" len="sm"/>
          </a:ln>
        </p:spPr>
      </p:cxnSp>
      <p:cxnSp>
        <p:nvCxnSpPr>
          <p:cNvPr id="318" name=""/>
          <p:cNvCxnSpPr>
            <a:stCxn xmlns:a="http://schemas.openxmlformats.org/drawingml/2006/main" id="1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33450" y="1343025"/>
            <a:ext cx="33337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484878"/>
            </a:solidFill>
            <a:prstDash val="solid"/>
            <a:tailEnd type="arrow" w="sm" len="sm"/>
          </a:ln>
        </p:spPr>
      </p:cxnSp>
      <p:sp>
        <p:nvSpPr>
          <p:cNvPr id="26" name="ml-step-1-number">
            <a:extLst xmlns:a="http://schemas.openxmlformats.org/drawingml/2006/main">
              <a:ext uri="{FF2B5EF4-FFF2-40B4-BE49-F238E27FC236}">
                <a16:creationId xmlns:a16="http://schemas.microsoft.com/office/drawing/2014/main" id="{72CF95F2-640A-410A-924D-86CA9466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0620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84B4"/>
            </a:solidFill>
            <a:prstDash val="solid"/>
          </a:ln>
        </p:spPr>
      </p:sp>
      <p:sp>
        <p:nvSpPr>
          <p:cNvPr id="27" name="ml-step-1-number-text">
            <a:extLst xmlns:a="http://schemas.openxmlformats.org/drawingml/2006/main">
              <a:ext uri="{FF2B5EF4-FFF2-40B4-BE49-F238E27FC236}">
                <a16:creationId xmlns:a16="http://schemas.microsoft.com/office/drawing/2014/main" id="{32BC4357-5A5B-4732-91CA-4189DCEE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062038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ml-step-1-box">
            <a:extLst xmlns:a="http://schemas.openxmlformats.org/drawingml/2006/main">
              <a:ext uri="{FF2B5EF4-FFF2-40B4-BE49-F238E27FC236}">
                <a16:creationId xmlns:a16="http://schemas.microsoft.com/office/drawing/2014/main" id="{DE5F6BDD-0F2B-4D13-B2ED-7D3700EA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028700"/>
            <a:ext cx="1847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9" name="ml-step-1-text">
            <a:extLst xmlns:a="http://schemas.openxmlformats.org/drawingml/2006/main">
              <a:ext uri="{FF2B5EF4-FFF2-40B4-BE49-F238E27FC236}">
                <a16:creationId xmlns:a16="http://schemas.microsoft.com/office/drawing/2014/main" id="{A6E1B9AA-B556-4E48-B9EA-5F62A09F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4775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Training-fold preprocessing</a:t>
            </a:r>
          </a:p>
        </p:txBody>
      </p:sp>
      <p:sp>
        <p:nvSpPr>
          <p:cNvPr id="30" name="ml-step-2-number">
            <a:extLst xmlns:a="http://schemas.openxmlformats.org/drawingml/2006/main">
              <a:ext uri="{FF2B5EF4-FFF2-40B4-BE49-F238E27FC236}">
                <a16:creationId xmlns:a16="http://schemas.microsoft.com/office/drawing/2014/main" id="{3EFAB0F2-5E35-4EEF-8334-8AC6D436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2906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84B4"/>
            </a:solidFill>
            <a:prstDash val="solid"/>
          </a:ln>
        </p:spPr>
      </p:sp>
      <p:sp>
        <p:nvSpPr>
          <p:cNvPr id="31" name="ml-step-2-number-text">
            <a:extLst xmlns:a="http://schemas.openxmlformats.org/drawingml/2006/main">
              <a:ext uri="{FF2B5EF4-FFF2-40B4-BE49-F238E27FC236}">
                <a16:creationId xmlns:a16="http://schemas.microsoft.com/office/drawing/2014/main" id="{B928519E-82BE-4F18-B7E5-B1C9AFB3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290638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ml-step-2-box">
            <a:extLst xmlns:a="http://schemas.openxmlformats.org/drawingml/2006/main">
              <a:ext uri="{FF2B5EF4-FFF2-40B4-BE49-F238E27FC236}">
                <a16:creationId xmlns:a16="http://schemas.microsoft.com/office/drawing/2014/main" id="{43478591-50EF-479F-B72F-D0FABD5D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257300"/>
            <a:ext cx="1847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3" name="ml-step-2-text">
            <a:extLst xmlns:a="http://schemas.openxmlformats.org/drawingml/2006/main">
              <a:ext uri="{FF2B5EF4-FFF2-40B4-BE49-F238E27FC236}">
                <a16:creationId xmlns:a16="http://schemas.microsoft.com/office/drawing/2014/main" id="{CFE6752A-03E6-457B-8064-6A1447EE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Training-fold quality checks</a:t>
            </a:r>
          </a:p>
        </p:txBody>
      </p:sp>
      <p:sp>
        <p:nvSpPr>
          <p:cNvPr id="34" name="ml-step-3-number">
            <a:extLst xmlns:a="http://schemas.openxmlformats.org/drawingml/2006/main">
              <a:ext uri="{FF2B5EF4-FFF2-40B4-BE49-F238E27FC236}">
                <a16:creationId xmlns:a16="http://schemas.microsoft.com/office/drawing/2014/main" id="{7500B783-1482-4389-914E-C2493F75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533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84B4"/>
            </a:solidFill>
            <a:prstDash val="solid"/>
          </a:ln>
        </p:spPr>
      </p:sp>
      <p:sp>
        <p:nvSpPr>
          <p:cNvPr id="35" name="ml-step-3-number-text">
            <a:extLst xmlns:a="http://schemas.openxmlformats.org/drawingml/2006/main">
              <a:ext uri="{FF2B5EF4-FFF2-40B4-BE49-F238E27FC236}">
                <a16:creationId xmlns:a16="http://schemas.microsoft.com/office/drawing/2014/main" id="{9D281E9F-5745-4446-A66A-4B511390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533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6" name="ml-step-3-box">
            <a:extLst xmlns:a="http://schemas.openxmlformats.org/drawingml/2006/main">
              <a:ext uri="{FF2B5EF4-FFF2-40B4-BE49-F238E27FC236}">
                <a16:creationId xmlns:a16="http://schemas.microsoft.com/office/drawing/2014/main" id="{4526BE44-C88E-4C38-B24C-4DCAA561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4859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7" name="ml-step-3-text">
            <a:extLst xmlns:a="http://schemas.openxmlformats.org/drawingml/2006/main">
              <a:ext uri="{FF2B5EF4-FFF2-40B4-BE49-F238E27FC236}">
                <a16:creationId xmlns:a16="http://schemas.microsoft.com/office/drawing/2014/main" id="{FB67D8AD-5370-4330-9416-AEDCAFA1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049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6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Outcome-agnostic redundancy pruning</a:t>
            </a:r>
          </a:p>
        </p:txBody>
      </p:sp>
      <p:sp>
        <p:nvSpPr>
          <p:cNvPr id="38" name="ml-step-4-number">
            <a:extLst xmlns:a="http://schemas.openxmlformats.org/drawingml/2006/main">
              <a:ext uri="{FF2B5EF4-FFF2-40B4-BE49-F238E27FC236}">
                <a16:creationId xmlns:a16="http://schemas.microsoft.com/office/drawing/2014/main" id="{5A8DB82F-DDDE-416E-B820-2B29CD14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7764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84B4"/>
            </a:solidFill>
            <a:prstDash val="solid"/>
          </a:ln>
        </p:spPr>
      </p:sp>
      <p:sp>
        <p:nvSpPr>
          <p:cNvPr id="39" name="ml-step-4-number-text">
            <a:extLst xmlns:a="http://schemas.openxmlformats.org/drawingml/2006/main">
              <a:ext uri="{FF2B5EF4-FFF2-40B4-BE49-F238E27FC236}">
                <a16:creationId xmlns:a16="http://schemas.microsoft.com/office/drawing/2014/main" id="{6F44A396-5FC6-459E-86B1-B1915363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776413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ml-step-4-box">
            <a:extLst xmlns:a="http://schemas.openxmlformats.org/drawingml/2006/main">
              <a:ext uri="{FF2B5EF4-FFF2-40B4-BE49-F238E27FC236}">
                <a16:creationId xmlns:a16="http://schemas.microsoft.com/office/drawing/2014/main" id="{739889F7-EA93-4F69-B920-5AFCC59D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743075"/>
            <a:ext cx="1847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1" name="ml-step-4-text">
            <a:extLst xmlns:a="http://schemas.openxmlformats.org/drawingml/2006/main">
              <a:ext uri="{FF2B5EF4-FFF2-40B4-BE49-F238E27FC236}">
                <a16:creationId xmlns:a16="http://schemas.microsoft.com/office/drawing/2014/main" id="{A9D09C78-B699-4CE3-A6B5-4607DF9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62125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Repeated nested cross-validation</a:t>
            </a:r>
          </a:p>
        </p:txBody>
      </p:sp>
      <p:sp>
        <p:nvSpPr>
          <p:cNvPr id="42" name="ml-step-5-number">
            <a:extLst xmlns:a="http://schemas.openxmlformats.org/drawingml/2006/main">
              <a:ext uri="{FF2B5EF4-FFF2-40B4-BE49-F238E27FC236}">
                <a16:creationId xmlns:a16="http://schemas.microsoft.com/office/drawing/2014/main" id="{5D96ED07-A641-4021-833F-45E1FCA9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19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84B4"/>
            </a:solidFill>
            <a:prstDash val="solid"/>
          </a:ln>
        </p:spPr>
      </p:sp>
      <p:sp>
        <p:nvSpPr>
          <p:cNvPr id="43" name="ml-step-5-number-text">
            <a:extLst xmlns:a="http://schemas.openxmlformats.org/drawingml/2006/main">
              <a:ext uri="{FF2B5EF4-FFF2-40B4-BE49-F238E27FC236}">
                <a16:creationId xmlns:a16="http://schemas.microsoft.com/office/drawing/2014/main" id="{7E42EA8C-4654-47D1-8BF5-C171BF20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193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4" name="ml-step-5-box">
            <a:extLst xmlns:a="http://schemas.openxmlformats.org/drawingml/2006/main">
              <a:ext uri="{FF2B5EF4-FFF2-40B4-BE49-F238E27FC236}">
                <a16:creationId xmlns:a16="http://schemas.microsoft.com/office/drawing/2014/main" id="{A2236C62-42B8-453E-9C4F-D6B94114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971675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5" name="ml-step-5-text">
            <a:extLst xmlns:a="http://schemas.openxmlformats.org/drawingml/2006/main">
              <a:ext uri="{FF2B5EF4-FFF2-40B4-BE49-F238E27FC236}">
                <a16:creationId xmlns:a16="http://schemas.microsoft.com/office/drawing/2014/main" id="{7F9BCA22-3B6B-405A-832E-F293D9BB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907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Nested feature selection</a:t>
            </a:r>
          </a:p>
        </p:txBody>
      </p:sp>
      <p:sp>
        <p:nvSpPr>
          <p:cNvPr id="46" name="ml-step-6-number">
            <a:extLst xmlns:a="http://schemas.openxmlformats.org/drawingml/2006/main">
              <a:ext uri="{FF2B5EF4-FFF2-40B4-BE49-F238E27FC236}">
                <a16:creationId xmlns:a16="http://schemas.microsoft.com/office/drawing/2014/main" id="{61513838-ED99-4BA5-B65B-246B69F7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2621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84B4"/>
            </a:solidFill>
            <a:prstDash val="solid"/>
          </a:ln>
        </p:spPr>
      </p:sp>
      <p:sp>
        <p:nvSpPr>
          <p:cNvPr id="47" name="ml-step-6-number-text">
            <a:extLst xmlns:a="http://schemas.openxmlformats.org/drawingml/2006/main">
              <a:ext uri="{FF2B5EF4-FFF2-40B4-BE49-F238E27FC236}">
                <a16:creationId xmlns:a16="http://schemas.microsoft.com/office/drawing/2014/main" id="{3829DB5B-01BA-4DAA-A05F-5687454C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262188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8" name="ml-step-6-box">
            <a:extLst xmlns:a="http://schemas.openxmlformats.org/drawingml/2006/main">
              <a:ext uri="{FF2B5EF4-FFF2-40B4-BE49-F238E27FC236}">
                <a16:creationId xmlns:a16="http://schemas.microsoft.com/office/drawing/2014/main" id="{1070913D-2CA7-4825-924D-959F5252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228850"/>
            <a:ext cx="1847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9" name="ml-step-6-text">
            <a:extLst xmlns:a="http://schemas.openxmlformats.org/drawingml/2006/main">
              <a:ext uri="{FF2B5EF4-FFF2-40B4-BE49-F238E27FC236}">
                <a16:creationId xmlns:a16="http://schemas.microsoft.com/office/drawing/2014/main" id="{88932B02-DBDD-4DDB-B2E7-52630F71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4790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Development-only model selection</a:t>
            </a:r>
          </a:p>
        </p:txBody>
      </p:sp>
      <p:sp>
        <p:nvSpPr>
          <p:cNvPr id="50" name="ml-step-7-number">
            <a:extLst xmlns:a="http://schemas.openxmlformats.org/drawingml/2006/main">
              <a:ext uri="{FF2B5EF4-FFF2-40B4-BE49-F238E27FC236}">
                <a16:creationId xmlns:a16="http://schemas.microsoft.com/office/drawing/2014/main" id="{612FE5B7-04CA-4ED3-B1B1-7BDC1D45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907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4878"/>
          </a:solidFill>
          <a:ln xmlns:a="http://schemas.openxmlformats.org/drawingml/2006/main" w="8573">
            <a:solidFill>
              <a:srgbClr val="484878"/>
            </a:solidFill>
            <a:prstDash val="solid"/>
          </a:ln>
        </p:spPr>
      </p:sp>
      <p:sp>
        <p:nvSpPr>
          <p:cNvPr id="51" name="ml-step-7-number-text">
            <a:extLst xmlns:a="http://schemas.openxmlformats.org/drawingml/2006/main">
              <a:ext uri="{FF2B5EF4-FFF2-40B4-BE49-F238E27FC236}">
                <a16:creationId xmlns:a16="http://schemas.microsoft.com/office/drawing/2014/main" id="{BD7749A0-7DBD-4941-B28F-AD4365BB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90788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2" name="ml-step-7-box">
            <a:extLst xmlns:a="http://schemas.openxmlformats.org/drawingml/2006/main">
              <a:ext uri="{FF2B5EF4-FFF2-40B4-BE49-F238E27FC236}">
                <a16:creationId xmlns:a16="http://schemas.microsoft.com/office/drawing/2014/main" id="{6C890845-29FB-4D86-9236-E1DBF41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57450"/>
            <a:ext cx="1847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0E4"/>
          </a:solidFill>
          <a:ln xmlns:a="http://schemas.openxmlformats.org/drawingml/2006/main" w="7620">
            <a:solidFill>
              <a:srgbClr val="7884B4"/>
            </a:solidFill>
            <a:prstDash val="solid"/>
          </a:ln>
        </p:spPr>
      </p:sp>
      <p:sp>
        <p:nvSpPr>
          <p:cNvPr id="53" name="ml-step-7-text">
            <a:extLst xmlns:a="http://schemas.openxmlformats.org/drawingml/2006/main">
              <a:ext uri="{FF2B5EF4-FFF2-40B4-BE49-F238E27FC236}">
                <a16:creationId xmlns:a16="http://schemas.microsoft.com/office/drawing/2014/main" id="{AC68369B-9710-49A5-9B9D-7D8705EE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Locked ExtraTrees model</a:t>
            </a:r>
          </a:p>
        </p:txBody>
      </p:sp>
      <p:cxnSp>
        <p:nvCxnSpPr>
          <p:cNvPr id="347" name=""/>
          <p:cNvCxnSpPr>
            <a:stCxn xmlns:a="http://schemas.openxmlformats.org/drawingml/2006/main" id="26" idx="4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981200" y="1195388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7884B4"/>
            </a:solidFill>
            <a:prstDash val="solid"/>
            <a:tailEnd type="arrow" w="sm" len="sm"/>
          </a:ln>
        </p:spPr>
      </p:cxnSp>
      <p:cxnSp>
        <p:nvCxnSpPr>
          <p:cNvPr id="348" name=""/>
          <p:cNvCxnSpPr>
            <a:stCxn xmlns:a="http://schemas.openxmlformats.org/drawingml/2006/main" id="30" idx="4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1981200" y="1423988"/>
            <a:ext cx="0" cy="10953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7884B4"/>
            </a:solidFill>
            <a:prstDash val="solid"/>
            <a:tailEnd type="arrow" w="sm" len="sm"/>
          </a:ln>
        </p:spPr>
      </p:cxnSp>
      <p:cxnSp>
        <p:nvCxnSpPr>
          <p:cNvPr id="349" name=""/>
          <p:cNvCxnSpPr>
            <a:stCxn xmlns:a="http://schemas.openxmlformats.org/drawingml/2006/main" id="34" idx="4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1981200" y="1666875"/>
            <a:ext cx="0" cy="109538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7884B4"/>
            </a:solidFill>
            <a:prstDash val="solid"/>
            <a:tailEnd type="arrow" w="sm" len="sm"/>
          </a:ln>
        </p:spPr>
      </p:cxnSp>
      <p:cxnSp>
        <p:nvCxnSpPr>
          <p:cNvPr id="350" name=""/>
          <p:cNvCxnSpPr>
            <a:stCxn xmlns:a="http://schemas.openxmlformats.org/drawingml/2006/main" id="38" idx="4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1981200" y="1909763"/>
            <a:ext cx="0" cy="10953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7884B4"/>
            </a:solidFill>
            <a:prstDash val="solid"/>
            <a:tailEnd type="arrow" w="sm" len="sm"/>
          </a:ln>
        </p:spPr>
      </p:cxnSp>
      <p:cxnSp>
        <p:nvCxnSpPr>
          <p:cNvPr id="351" name=""/>
          <p:cNvCxnSpPr>
            <a:stCxn xmlns:a="http://schemas.openxmlformats.org/drawingml/2006/main" id="42" idx="4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1981200" y="2152650"/>
            <a:ext cx="0" cy="109538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7884B4"/>
            </a:solidFill>
            <a:prstDash val="solid"/>
            <a:tailEnd type="arrow" w="sm" len="sm"/>
          </a:ln>
        </p:spPr>
      </p:cxnSp>
      <p:cxnSp>
        <p:nvCxnSpPr>
          <p:cNvPr id="352" name=""/>
          <p:cNvCxnSpPr>
            <a:stCxn xmlns:a="http://schemas.openxmlformats.org/drawingml/2006/main" id="46" idx="4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1981200" y="2395538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7884B4"/>
            </a:solidFill>
            <a:prstDash val="solid"/>
            <a:tailEnd type="arrow" w="sm" len="sm"/>
          </a:ln>
        </p:spPr>
      </p:cxnSp>
      <p:sp>
        <p:nvSpPr>
          <p:cNvPr id="60" name="llm-step-1-number">
            <a:extLst xmlns:a="http://schemas.openxmlformats.org/drawingml/2006/main">
              <a:ext uri="{FF2B5EF4-FFF2-40B4-BE49-F238E27FC236}">
                <a16:creationId xmlns:a16="http://schemas.microsoft.com/office/drawing/2014/main" id="{DE319F0E-BA2A-41E2-A839-19EFDE0A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0620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84B4"/>
            </a:solidFill>
            <a:prstDash val="solid"/>
          </a:ln>
        </p:spPr>
      </p:sp>
      <p:sp>
        <p:nvSpPr>
          <p:cNvPr id="61" name="llm-step-1-number-text">
            <a:extLst xmlns:a="http://schemas.openxmlformats.org/drawingml/2006/main">
              <a:ext uri="{FF2B5EF4-FFF2-40B4-BE49-F238E27FC236}">
                <a16:creationId xmlns:a16="http://schemas.microsoft.com/office/drawing/2014/main" id="{CECCD5B2-E823-421B-9D4F-EF4040B7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062038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2" name="llm-step-1-box">
            <a:extLst xmlns:a="http://schemas.openxmlformats.org/drawingml/2006/main">
              <a:ext uri="{FF2B5EF4-FFF2-40B4-BE49-F238E27FC236}">
                <a16:creationId xmlns:a16="http://schemas.microsoft.com/office/drawing/2014/main" id="{A113328E-9A8D-4336-8577-39C55806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028700"/>
            <a:ext cx="1847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3" name="llm-step-1-text">
            <a:extLst xmlns:a="http://schemas.openxmlformats.org/drawingml/2006/main">
              <a:ext uri="{FF2B5EF4-FFF2-40B4-BE49-F238E27FC236}">
                <a16:creationId xmlns:a16="http://schemas.microsoft.com/office/drawing/2014/main" id="{7BA2CEF5-FEC4-4685-A995-372BAB9F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4775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Labelled development examples</a:t>
            </a:r>
          </a:p>
        </p:txBody>
      </p:sp>
      <p:sp>
        <p:nvSpPr>
          <p:cNvPr id="64" name="llm-step-2-number">
            <a:extLst xmlns:a="http://schemas.openxmlformats.org/drawingml/2006/main">
              <a:ext uri="{FF2B5EF4-FFF2-40B4-BE49-F238E27FC236}">
                <a16:creationId xmlns:a16="http://schemas.microsoft.com/office/drawing/2014/main" id="{9A19E41D-C909-41BA-86C7-7E315DAE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43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84B4"/>
            </a:solidFill>
            <a:prstDash val="solid"/>
          </a:ln>
        </p:spPr>
      </p:sp>
      <p:sp>
        <p:nvSpPr>
          <p:cNvPr id="65" name="llm-step-2-number-text">
            <a:extLst xmlns:a="http://schemas.openxmlformats.org/drawingml/2006/main">
              <a:ext uri="{FF2B5EF4-FFF2-40B4-BE49-F238E27FC236}">
                <a16:creationId xmlns:a16="http://schemas.microsoft.com/office/drawing/2014/main" id="{C2F95A20-5ADD-470B-BBDF-23786A06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430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6" name="llm-step-2-box">
            <a:extLst xmlns:a="http://schemas.openxmlformats.org/drawingml/2006/main">
              <a:ext uri="{FF2B5EF4-FFF2-40B4-BE49-F238E27FC236}">
                <a16:creationId xmlns:a16="http://schemas.microsoft.com/office/drawing/2014/main" id="{09B372C3-8ED6-4193-A1E5-63A470E4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25730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7" name="llm-step-2-text">
            <a:extLst xmlns:a="http://schemas.openxmlformats.org/drawingml/2006/main">
              <a:ext uri="{FF2B5EF4-FFF2-40B4-BE49-F238E27FC236}">
                <a16:creationId xmlns:a16="http://schemas.microsoft.com/office/drawing/2014/main" id="{EBC6A742-325F-475B-BA81-B0EBF001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276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Examples per prompt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9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0, 4, 8, 10, 20, 40, 80, 109</a:t>
            </a:r>
          </a:p>
        </p:txBody>
      </p:sp>
      <p:sp>
        <p:nvSpPr>
          <p:cNvPr id="68" name="llm-step-3-number">
            <a:extLst xmlns:a="http://schemas.openxmlformats.org/drawingml/2006/main">
              <a:ext uri="{FF2B5EF4-FFF2-40B4-BE49-F238E27FC236}">
                <a16:creationId xmlns:a16="http://schemas.microsoft.com/office/drawing/2014/main" id="{D1FF8260-6B11-49E8-BA8A-F73FC744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47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84B4"/>
            </a:solidFill>
            <a:prstDash val="solid"/>
          </a:ln>
        </p:spPr>
      </p:sp>
      <p:sp>
        <p:nvSpPr>
          <p:cNvPr id="69" name="llm-step-3-number-text">
            <a:extLst xmlns:a="http://schemas.openxmlformats.org/drawingml/2006/main">
              <a:ext uri="{FF2B5EF4-FFF2-40B4-BE49-F238E27FC236}">
                <a16:creationId xmlns:a16="http://schemas.microsoft.com/office/drawing/2014/main" id="{FD03C77B-430A-437C-A23E-ED6C75F0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478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0" name="llm-step-3-box">
            <a:extLst xmlns:a="http://schemas.openxmlformats.org/drawingml/2006/main">
              <a:ext uri="{FF2B5EF4-FFF2-40B4-BE49-F238E27FC236}">
                <a16:creationId xmlns:a16="http://schemas.microsoft.com/office/drawing/2014/main" id="{A35AF715-C84D-4DCF-B137-828001DE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90675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1" name="llm-step-3-text">
            <a:extLst xmlns:a="http://schemas.openxmlformats.org/drawingml/2006/main">
              <a:ext uri="{FF2B5EF4-FFF2-40B4-BE49-F238E27FC236}">
                <a16:creationId xmlns:a16="http://schemas.microsoft.com/office/drawing/2014/main" id="{EAE7FE0F-84E3-43FA-8E25-89C880BC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09725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20 runs per budget (4–80 examples)</a:t>
            </a:r>
          </a:p>
        </p:txBody>
      </p:sp>
      <p:sp>
        <p:nvSpPr>
          <p:cNvPr id="72" name="llm-step-4-number">
            <a:extLst xmlns:a="http://schemas.openxmlformats.org/drawingml/2006/main">
              <a:ext uri="{FF2B5EF4-FFF2-40B4-BE49-F238E27FC236}">
                <a16:creationId xmlns:a16="http://schemas.microsoft.com/office/drawing/2014/main" id="{14C5D181-1C72-4466-830D-4C743F87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24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84B4"/>
            </a:solidFill>
            <a:prstDash val="solid"/>
          </a:ln>
        </p:spPr>
      </p:sp>
      <p:sp>
        <p:nvSpPr>
          <p:cNvPr id="73" name="llm-step-4-number-text">
            <a:extLst xmlns:a="http://schemas.openxmlformats.org/drawingml/2006/main">
              <a:ext uri="{FF2B5EF4-FFF2-40B4-BE49-F238E27FC236}">
                <a16:creationId xmlns:a16="http://schemas.microsoft.com/office/drawing/2014/main" id="{59C1CD7F-A03D-49A6-825D-45FD1B5B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240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4" name="llm-step-4-box">
            <a:extLst xmlns:a="http://schemas.openxmlformats.org/drawingml/2006/main">
              <a:ext uri="{FF2B5EF4-FFF2-40B4-BE49-F238E27FC236}">
                <a16:creationId xmlns:a16="http://schemas.microsoft.com/office/drawing/2014/main" id="{A90F92EE-EF91-4FB5-AAF5-4E54B623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669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5" name="llm-step-4-text">
            <a:extLst xmlns:a="http://schemas.openxmlformats.org/drawingml/2006/main">
              <a:ext uri="{FF2B5EF4-FFF2-40B4-BE49-F238E27FC236}">
                <a16:creationId xmlns:a16="http://schemas.microsoft.com/office/drawing/2014/main" id="{FBF3F462-011E-44EB-8F0C-F86B976E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859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GPT-5.6-sol cohort-batched inference</a:t>
            </a:r>
          </a:p>
        </p:txBody>
      </p:sp>
      <p:sp>
        <p:nvSpPr>
          <p:cNvPr id="76" name="llm-step-5-number">
            <a:extLst xmlns:a="http://schemas.openxmlformats.org/drawingml/2006/main">
              <a:ext uri="{FF2B5EF4-FFF2-40B4-BE49-F238E27FC236}">
                <a16:creationId xmlns:a16="http://schemas.microsoft.com/office/drawing/2014/main" id="{9AA9A64D-CACC-4098-ACFE-96BA8B5E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764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4878"/>
          </a:solidFill>
          <a:ln xmlns:a="http://schemas.openxmlformats.org/drawingml/2006/main" w="8573">
            <a:solidFill>
              <a:srgbClr val="484878"/>
            </a:solidFill>
            <a:prstDash val="solid"/>
          </a:ln>
        </p:spPr>
      </p:sp>
      <p:sp>
        <p:nvSpPr>
          <p:cNvPr id="77" name="llm-step-5-number-text">
            <a:extLst xmlns:a="http://schemas.openxmlformats.org/drawingml/2006/main">
              <a:ext uri="{FF2B5EF4-FFF2-40B4-BE49-F238E27FC236}">
                <a16:creationId xmlns:a16="http://schemas.microsoft.com/office/drawing/2014/main" id="{76904432-FEA7-4DCC-A43A-74758459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76463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3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3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8" name="llm-step-5-box">
            <a:extLst xmlns:a="http://schemas.openxmlformats.org/drawingml/2006/main">
              <a:ext uri="{FF2B5EF4-FFF2-40B4-BE49-F238E27FC236}">
                <a16:creationId xmlns:a16="http://schemas.microsoft.com/office/drawing/2014/main" id="{4B723225-E493-40A2-9583-0443AE67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43125"/>
            <a:ext cx="1847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0E4"/>
          </a:solidFill>
          <a:ln xmlns:a="http://schemas.openxmlformats.org/drawingml/2006/main" w="7620">
            <a:solidFill>
              <a:srgbClr val="7884B4"/>
            </a:solidFill>
            <a:prstDash val="solid"/>
          </a:ln>
        </p:spPr>
      </p:sp>
      <p:sp>
        <p:nvSpPr>
          <p:cNvPr id="79" name="llm-step-5-text">
            <a:extLst xmlns:a="http://schemas.openxmlformats.org/drawingml/2006/main">
              <a:ext uri="{FF2B5EF4-FFF2-40B4-BE49-F238E27FC236}">
                <a16:creationId xmlns:a16="http://schemas.microsoft.com/office/drawing/2014/main" id="{FE8DE7F4-FD74-4FBD-9E49-ADF3A960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62175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93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93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Predicted MPR90 probabilities</a:t>
            </a:r>
          </a:p>
        </p:txBody>
      </p:sp>
      <p:cxnSp>
        <p:nvCxnSpPr>
          <p:cNvPr id="373" name=""/>
          <p:cNvCxnSpPr>
            <a:stCxn xmlns:a="http://schemas.openxmlformats.org/drawingml/2006/main" id="60" idx="4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4343400" y="1195388"/>
            <a:ext cx="0" cy="14763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7884B4"/>
            </a:solidFill>
            <a:prstDash val="solid"/>
            <a:tailEnd type="arrow" w="sm" len="sm"/>
          </a:ln>
        </p:spPr>
      </p:cxnSp>
      <p:cxnSp>
        <p:nvCxnSpPr>
          <p:cNvPr id="374" name=""/>
          <p:cNvCxnSpPr>
            <a:stCxn xmlns:a="http://schemas.openxmlformats.org/drawingml/2006/main" id="64" idx="4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4343400" y="14763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7884B4"/>
            </a:solidFill>
            <a:prstDash val="solid"/>
            <a:tailEnd type="arrow" w="sm" len="sm"/>
          </a:ln>
        </p:spPr>
      </p:cxnSp>
      <p:cxnSp>
        <p:nvCxnSpPr>
          <p:cNvPr id="375" name=""/>
          <p:cNvCxnSpPr>
            <a:stCxn xmlns:a="http://schemas.openxmlformats.org/drawingml/2006/main" id="68" idx="4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4343400" y="17811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7884B4"/>
            </a:solidFill>
            <a:prstDash val="solid"/>
            <a:tailEnd type="arrow" w="sm" len="sm"/>
          </a:ln>
        </p:spPr>
      </p:cxnSp>
      <p:cxnSp>
        <p:nvCxnSpPr>
          <p:cNvPr id="376" name=""/>
          <p:cNvCxnSpPr>
            <a:stCxn xmlns:a="http://schemas.openxmlformats.org/drawingml/2006/main" id="72" idx="4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4343400" y="2057400"/>
            <a:ext cx="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7884B4"/>
            </a:solidFill>
            <a:prstDash val="solid"/>
            <a:tailEnd type="arrow" w="sm" len="sm"/>
          </a:ln>
        </p:spPr>
      </p:cxnSp>
      <p:sp>
        <p:nvSpPr>
          <p:cNvPr id="84" name="safeguards-band">
            <a:extLst xmlns:a="http://schemas.openxmlformats.org/drawingml/2006/main">
              <a:ext uri="{FF2B5EF4-FFF2-40B4-BE49-F238E27FC236}">
                <a16:creationId xmlns:a16="http://schemas.microsoft.com/office/drawing/2014/main" id="{DDD1C236-B336-4D98-9489-23E20279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71725"/>
            <a:ext cx="1847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CCD8"/>
          </a:solidFill>
          <a:ln xmlns:a="http://schemas.openxmlformats.org/drawingml/2006/main" w="5715">
            <a:solidFill>
              <a:srgbClr val="E4CCD8"/>
            </a:solidFill>
            <a:prstDash val="solid"/>
          </a:ln>
        </p:spPr>
      </p:sp>
      <p:sp>
        <p:nvSpPr>
          <p:cNvPr id="85" name="safeguards-title">
            <a:extLst xmlns:a="http://schemas.openxmlformats.org/drawingml/2006/main">
              <a:ext uri="{FF2B5EF4-FFF2-40B4-BE49-F238E27FC236}">
                <a16:creationId xmlns:a16="http://schemas.microsoft.com/office/drawing/2014/main" id="{57C06289-197B-439C-9DC6-974AEC26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90775"/>
            <a:ext cx="1428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749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Execution records</a:t>
            </a:r>
          </a:p>
        </p:txBody>
      </p:sp>
      <p:sp>
        <p:nvSpPr>
          <p:cNvPr id="86" name="safeguards-copy">
            <a:extLst xmlns:a="http://schemas.openxmlformats.org/drawingml/2006/main">
              <a:ext uri="{FF2B5EF4-FFF2-40B4-BE49-F238E27FC236}">
                <a16:creationId xmlns:a16="http://schemas.microsoft.com/office/drawing/2014/main" id="{3550DFAE-ED3D-48C0-9E41-D5FB1C54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8602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18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18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External outcomes withheld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518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18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Output checks and prediction freeze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518" b="0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18" b="0">
                <a:solidFill>
                  <a:srgbClr val="222329"/>
                </a:solidFill>
                <a:latin typeface="Arial"/>
                <a:ea typeface="Arial"/>
                <a:cs typeface="Arial"/>
              </a:rPr>
              <a:t>Recorded prompts and execution logs</a:t>
            </a:r>
          </a:p>
        </p:txBody>
      </p:sp>
      <p:sp>
        <p:nvSpPr>
          <p:cNvPr id="87" name="eval-cohort-box">
            <a:extLst xmlns:a="http://schemas.openxmlformats.org/drawingml/2006/main">
              <a:ext uri="{FF2B5EF4-FFF2-40B4-BE49-F238E27FC236}">
                <a16:creationId xmlns:a16="http://schemas.microsoft.com/office/drawing/2014/main" id="{DF0C5688-EEFE-42D4-9640-2458764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48025"/>
            <a:ext cx="15811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CCD8"/>
          </a:solidFill>
          <a:ln xmlns:a="http://schemas.openxmlformats.org/drawingml/2006/main" w="7620">
            <a:solidFill>
              <a:srgbClr val="484878"/>
            </a:solidFill>
            <a:prstDash val="solid"/>
          </a:ln>
        </p:spPr>
      </p:sp>
      <p:sp>
        <p:nvSpPr>
          <p:cNvPr id="88" name="eval-cohort-text">
            <a:extLst xmlns:a="http://schemas.openxmlformats.org/drawingml/2006/main">
              <a:ext uri="{FF2B5EF4-FFF2-40B4-BE49-F238E27FC236}">
                <a16:creationId xmlns:a16="http://schemas.microsoft.com/office/drawing/2014/main" id="{F0A1490E-FBD9-4B84-94B4-351414E0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67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630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Same external patients (n = 57)</a:t>
            </a:r>
          </a:p>
        </p:txBody>
      </p:sp>
      <p:sp>
        <p:nvSpPr>
          <p:cNvPr id="89" name="eval-predictions-box">
            <a:extLst xmlns:a="http://schemas.openxmlformats.org/drawingml/2006/main">
              <a:ext uri="{FF2B5EF4-FFF2-40B4-BE49-F238E27FC236}">
                <a16:creationId xmlns:a16="http://schemas.microsoft.com/office/drawing/2014/main" id="{A96C4F08-A23C-4E57-9D10-AEA6707C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48025"/>
            <a:ext cx="1638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8"/>
          </a:solidFill>
          <a:ln xmlns:a="http://schemas.openxmlformats.org/drawingml/2006/main" w="7620">
            <a:solidFill>
              <a:srgbClr val="7884B4"/>
            </a:solidFill>
            <a:prstDash val="solid"/>
          </a:ln>
        </p:spPr>
      </p:sp>
      <p:sp>
        <p:nvSpPr>
          <p:cNvPr id="90" name="eval-predictions-text">
            <a:extLst xmlns:a="http://schemas.openxmlformats.org/drawingml/2006/main">
              <a:ext uri="{FF2B5EF4-FFF2-40B4-BE49-F238E27FC236}">
                <a16:creationId xmlns:a16="http://schemas.microsoft.com/office/drawing/2014/main" id="{CFF2EE9E-47ED-49AD-BD69-E01C16E7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670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607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607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Locked models and LLM predictions</a:t>
            </a:r>
          </a:p>
        </p:txBody>
      </p:sp>
      <p:sp>
        <p:nvSpPr>
          <p:cNvPr id="91" name="eval-endpoint-box">
            <a:extLst xmlns:a="http://schemas.openxmlformats.org/drawingml/2006/main">
              <a:ext uri="{FF2B5EF4-FFF2-40B4-BE49-F238E27FC236}">
                <a16:creationId xmlns:a16="http://schemas.microsoft.com/office/drawing/2014/main" id="{D1025D10-C8D4-43DB-8865-0853A37B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48025"/>
            <a:ext cx="1504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84878"/>
            </a:solidFill>
            <a:prstDash val="solid"/>
          </a:ln>
        </p:spPr>
      </p:sp>
      <p:sp>
        <p:nvSpPr>
          <p:cNvPr id="92" name="eval-endpoint-text">
            <a:extLst xmlns:a="http://schemas.openxmlformats.org/drawingml/2006/main">
              <a:ext uri="{FF2B5EF4-FFF2-40B4-BE49-F238E27FC236}">
                <a16:creationId xmlns:a16="http://schemas.microsoft.com/office/drawing/2014/main" id="{24AD6013-165A-4880-A962-A3595AC9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67075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585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85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Performance and paired differences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585" b="1">
                <a:solidFill>
                  <a:srgbClr val="222329"/>
                </a:solidFill>
                <a:latin typeface="Arial"/>
                <a:ea typeface="Arial"/>
                <a:cs typeface="Arial"/>
              </a:defRPr>
            </a:pPr>
            <a:r>
              <a:rPr sz="585" b="1">
                <a:solidFill>
                  <a:srgbClr val="222329"/>
                </a:solidFill>
                <a:latin typeface="Arial"/>
                <a:ea typeface="Arial"/>
                <a:cs typeface="Arial"/>
              </a:rPr>
              <a:t>Patient and prompt resampling</a:t>
            </a:r>
          </a:p>
        </p:txBody>
      </p:sp>
      <p:cxnSp>
        <p:nvCxnSpPr>
          <p:cNvPr id="386" name=""/>
          <p:cNvCxnSpPr>
            <a:stCxn xmlns:a="http://schemas.openxmlformats.org/drawingml/2006/main" id="87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2019300" y="3386138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84878"/>
            </a:solidFill>
            <a:prstDash val="solid"/>
            <a:tailEnd type="arrow" w="sm" len="sm"/>
          </a:ln>
        </p:spPr>
      </p:cxnSp>
      <p:cxnSp>
        <p:nvCxnSpPr>
          <p:cNvPr id="387" name=""/>
          <p:cNvCxnSpPr>
            <a:stCxn xmlns:a="http://schemas.openxmlformats.org/drawingml/2006/main" id="89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4143375" y="3386138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84878"/>
            </a:solidFill>
            <a:prstDash val="solid"/>
            <a:tailEnd type="arrow" w="sm" len="sm"/>
          </a:ln>
        </p:spPr>
      </p:cxnSp>
      <p:cxnSp>
        <p:nvCxnSpPr>
          <p:cNvPr id="388" name=""/>
          <p:cNvCxnSpPr>
            <a:stCxn xmlns:a="http://schemas.openxmlformats.org/drawingml/2006/main" id="22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 flipH="1">
            <a:off x="1228725" y="2647950"/>
            <a:ext cx="38100" cy="600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484878"/>
            </a:solidFill>
            <a:prstDash val="solid"/>
            <a:tailEnd type="arrow" w="sm" len="sm"/>
          </a:ln>
        </p:spPr>
      </p:cxnSp>
      <p:cxnSp>
        <p:nvCxnSpPr>
          <p:cNvPr id="389" name=""/>
          <p:cNvCxnSpPr>
            <a:stCxn xmlns:a="http://schemas.openxmlformats.org/drawingml/2006/main" id="52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3028950" y="2657475"/>
            <a:ext cx="29527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7884B4"/>
            </a:solidFill>
            <a:prstDash val="solid"/>
            <a:tailEnd type="arrow" w="sm" len="sm"/>
          </a:ln>
        </p:spPr>
      </p:cxnSp>
      <p:cxnSp>
        <p:nvCxnSpPr>
          <p:cNvPr id="390" name=""/>
          <p:cNvCxnSpPr>
            <a:stCxn xmlns:a="http://schemas.openxmlformats.org/drawingml/2006/main" id="84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 flipH="1">
            <a:off x="3324225" y="2762250"/>
            <a:ext cx="1876425" cy="485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7884B4"/>
            </a:solidFill>
            <a:prstDash val="solid"/>
            <a:tailEnd type="arrow" w="sm" len="sm"/>
          </a:ln>
        </p:spPr>
      </p:cxnSp>
      <p:sp>
        <p:nvSpPr>
          <p:cNvPr id="98" name="external-outcome-boundary">
            <a:extLst xmlns:a="http://schemas.openxmlformats.org/drawingml/2006/main">
              <a:ext uri="{FF2B5EF4-FFF2-40B4-BE49-F238E27FC236}">
                <a16:creationId xmlns:a16="http://schemas.microsoft.com/office/drawing/2014/main" id="{F12D1DB3-380A-4E6D-BA31-6AA38376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62350"/>
            <a:ext cx="327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40" b="1">
                <a:solidFill>
                  <a:srgbClr val="484878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484878"/>
                </a:solidFill>
                <a:latin typeface="Arial"/>
                <a:ea typeface="Arial"/>
                <a:cs typeface="Arial"/>
              </a:rPr>
              <a:t>External outcomes withheld through development, inference and prediction freeze</a:t>
            </a:r>
          </a:p>
        </p:txBody>
      </p:sp>
      <p:sp>
        <p:nvSpPr>
          <p:cNvPr id="99" name="abbreviations-footer">
            <a:extLst xmlns:a="http://schemas.openxmlformats.org/drawingml/2006/main">
              <a:ext uri="{FF2B5EF4-FFF2-40B4-BE49-F238E27FC236}">
                <a16:creationId xmlns:a16="http://schemas.microsoft.com/office/drawing/2014/main" id="{B1436E45-81F4-4607-B016-0503E1BD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943350"/>
            <a:ext cx="6134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40" b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540" b="0">
                <a:solidFill>
                  <a:srgbClr val="606060"/>
                </a:solidFill>
                <a:latin typeface="Arial"/>
                <a:ea typeface="Arial"/>
                <a:cs typeface="Arial"/>
              </a:rPr>
              <a:t>MPR90, major pathological response (tumour necrosis ≥90%); LLM, large language model.</a:t>
            </a:r>
          </a:p>
        </p:txBody>
      </p:sp>
    </p:spTree>
    <p:extLst>
      <p:ext uri="{BB962C8B-B14F-4D97-AF65-F5344CB8AC3E}">
        <p14:creationId xmlns:p14="http://schemas.microsoft.com/office/powerpoint/2010/main" val="446259255"/>
      </p:ext>
    </p:extLst>
  </p:cSld>
</p:sld>
</file>

<file path=ppt/theme/theme1.xml><?xml version="1.0" encoding="utf-8"?>
<a:theme xmlns:a="http://schemas.openxmlformats.org/drawingml/2006/main" name="ChatGPT">
  <a:themeElements>
    <a:clrScheme name="NMI restrained pastel">
      <a:dk1>
        <a:srgbClr val="000000"/>
      </a:dk1>
      <a:lt1>
        <a:srgbClr val="FFFFFF"/>
      </a:lt1>
      <a:dk2>
        <a:srgbClr val="222329"/>
      </a:dk2>
      <a:lt2>
        <a:srgbClr val="F4F4F6"/>
      </a:lt2>
      <a:accent1>
        <a:srgbClr val="484878"/>
      </a:accent1>
      <a:accent2>
        <a:srgbClr val="7884B4"/>
      </a:accent2>
      <a:accent3>
        <a:srgbClr val="B4C0E4"/>
      </a:accent3>
      <a:accent4>
        <a:srgbClr val="E4CCD8"/>
      </a:accent4>
      <a:accent5>
        <a:srgbClr val="A8A8A8"/>
      </a:accent5>
      <a:accent6>
        <a:srgbClr val="D8D8D8"/>
      </a:accent6>
      <a:hlink>
        <a:srgbClr val="484878"/>
      </a:hlink>
      <a:folHlink>
        <a:srgbClr val="7884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MI restrained paste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2026-09-07T16:20:34.1730000Z</dcterms:created>
  <dcterms:modified xsi:type="dcterms:W3CDTF">2026-09-07T16:20:34.1730000Z</dcterms:modified>
</coreProperties>
</file>